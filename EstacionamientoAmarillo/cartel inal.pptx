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32385000" cy="43192700"/>
  <p:notesSz cx="6858000" cy="9144000"/>
  <p:embeddedFontLst>
    <p:embeddedFont>
      <p:font typeface="Cambria Bold" panose="02040803050406030204" pitchFamily="18" charset="0"/>
      <p:regular r:id="rId5"/>
      <p:bold r:id="rId6"/>
    </p:embeddedFont>
    <p:embeddedFont>
      <p:font typeface="Times New Roman Bold" panose="020B0604020202020204" charset="0"/>
      <p:regular r:id="rId7"/>
    </p:embeddedFont>
    <p:embeddedFont>
      <p:font typeface="Times New Roman Italics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22" autoAdjust="0"/>
  </p:normalViewPr>
  <p:slideViewPr>
    <p:cSldViewPr>
      <p:cViewPr>
        <p:scale>
          <a:sx n="32" d="100"/>
          <a:sy n="32" d="100"/>
        </p:scale>
        <p:origin x="624" y="-7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609975" y="512763"/>
            <a:ext cx="19240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hyperlink" Target="https://repositorio.unjfsc.edu.pe/handle/20.500.14067/8157?utm_source=chatgpt.com" TargetMode="External"/><Relationship Id="rId3" Type="http://schemas.openxmlformats.org/officeDocument/2006/relationships/image" Target="../media/image1.png"/><Relationship Id="rId21" Type="http://schemas.openxmlformats.org/officeDocument/2006/relationships/image" Target="../media/image14.jpe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hyperlink" Target="https://www.redalyc.org/pdf/2570/257059811004.pdf?utm_source=chatgpt.com" TargetMode="External"/><Relationship Id="rId2" Type="http://schemas.openxmlformats.org/officeDocument/2006/relationships/notesSlide" Target="../notesSlides/notesSlide1.xml"/><Relationship Id="rId16" Type="http://schemas.openxmlformats.org/officeDocument/2006/relationships/hyperlink" Target="https://repositorio.unitec.edu/xmlui/handle/123456789/12336" TargetMode="External"/><Relationship Id="rId20" Type="http://schemas.openxmlformats.org/officeDocument/2006/relationships/hyperlink" Target="https://ojsincaing.com.mx/index.php/ediciones/article/view/228?utm_source=chatgpt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16.png"/><Relationship Id="rId10" Type="http://schemas.openxmlformats.org/officeDocument/2006/relationships/image" Target="../media/image8.png"/><Relationship Id="rId19" Type="http://schemas.openxmlformats.org/officeDocument/2006/relationships/hyperlink" Target="https://ojs.unemi.edu.ec/index.php/cienciaunemi/article/view/1669?utm_source=chatgpt.com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Relationship Id="rId22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31826" y="11209231"/>
            <a:ext cx="11346669" cy="830997"/>
            <a:chOff x="0" y="0"/>
            <a:chExt cx="15128892" cy="11079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128875" cy="1107948"/>
            </a:xfrm>
            <a:custGeom>
              <a:avLst/>
              <a:gdLst/>
              <a:ahLst/>
              <a:cxnLst/>
              <a:rect l="l" t="t" r="r" b="b"/>
              <a:pathLst>
                <a:path w="15128875" h="1107948">
                  <a:moveTo>
                    <a:pt x="0" y="0"/>
                  </a:moveTo>
                  <a:lnTo>
                    <a:pt x="15128875" y="0"/>
                  </a:lnTo>
                  <a:lnTo>
                    <a:pt x="15128875" y="1107948"/>
                  </a:lnTo>
                  <a:lnTo>
                    <a:pt x="0" y="1107948"/>
                  </a:lnTo>
                  <a:close/>
                </a:path>
              </a:pathLst>
            </a:custGeom>
            <a:solidFill>
              <a:srgbClr val="850631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5128892" cy="1117521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F2F2F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Resumen</a:t>
              </a:r>
            </a:p>
          </p:txBody>
        </p:sp>
      </p:grpSp>
      <p:sp>
        <p:nvSpPr>
          <p:cNvPr id="5" name="AutoShape 5"/>
          <p:cNvSpPr/>
          <p:nvPr/>
        </p:nvSpPr>
        <p:spPr>
          <a:xfrm rot="7601113">
            <a:off x="15731449" y="3702799"/>
            <a:ext cx="2768054" cy="0"/>
          </a:xfrm>
          <a:prstGeom prst="line">
            <a:avLst/>
          </a:prstGeom>
          <a:ln w="142875" cap="rnd">
            <a:solidFill>
              <a:srgbClr val="8506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371341" y="335722"/>
            <a:ext cx="6950142" cy="3028440"/>
            <a:chOff x="0" y="0"/>
            <a:chExt cx="9266856" cy="40379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266809" cy="4037965"/>
            </a:xfrm>
            <a:custGeom>
              <a:avLst/>
              <a:gdLst/>
              <a:ahLst/>
              <a:cxnLst/>
              <a:rect l="l" t="t" r="r" b="b"/>
              <a:pathLst>
                <a:path w="9266809" h="4037965">
                  <a:moveTo>
                    <a:pt x="0" y="0"/>
                  </a:moveTo>
                  <a:lnTo>
                    <a:pt x="9266809" y="0"/>
                  </a:lnTo>
                  <a:lnTo>
                    <a:pt x="9266809" y="4037965"/>
                  </a:lnTo>
                  <a:lnTo>
                    <a:pt x="0" y="4037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834" r="-4269" b="-4204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8" name="Freeform 8"/>
          <p:cNvSpPr/>
          <p:nvPr/>
        </p:nvSpPr>
        <p:spPr>
          <a:xfrm>
            <a:off x="16375879" y="41301824"/>
            <a:ext cx="16024996" cy="1898815"/>
          </a:xfrm>
          <a:custGeom>
            <a:avLst/>
            <a:gdLst/>
            <a:ahLst/>
            <a:cxnLst/>
            <a:rect l="l" t="t" r="r" b="b"/>
            <a:pathLst>
              <a:path w="16024996" h="1898815">
                <a:moveTo>
                  <a:pt x="0" y="0"/>
                </a:moveTo>
                <a:lnTo>
                  <a:pt x="16024996" y="0"/>
                </a:lnTo>
                <a:lnTo>
                  <a:pt x="16024996" y="1898815"/>
                </a:lnTo>
                <a:lnTo>
                  <a:pt x="0" y="1898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TextBox 9"/>
          <p:cNvSpPr txBox="1"/>
          <p:nvPr/>
        </p:nvSpPr>
        <p:spPr>
          <a:xfrm>
            <a:off x="18209894" y="41468625"/>
            <a:ext cx="13357708" cy="1487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19"/>
              </a:lnSpc>
            </a:pPr>
            <a:r>
              <a:rPr lang="en-US" sz="9600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TecNM Campus Atlixco</a:t>
            </a:r>
          </a:p>
        </p:txBody>
      </p:sp>
      <p:sp>
        <p:nvSpPr>
          <p:cNvPr id="10" name="Freeform 10"/>
          <p:cNvSpPr/>
          <p:nvPr/>
        </p:nvSpPr>
        <p:spPr>
          <a:xfrm>
            <a:off x="-41400" y="41850489"/>
            <a:ext cx="17023113" cy="1350148"/>
          </a:xfrm>
          <a:custGeom>
            <a:avLst/>
            <a:gdLst/>
            <a:ahLst/>
            <a:cxnLst/>
            <a:rect l="l" t="t" r="r" b="b"/>
            <a:pathLst>
              <a:path w="17023113" h="1350148">
                <a:moveTo>
                  <a:pt x="0" y="0"/>
                </a:moveTo>
                <a:lnTo>
                  <a:pt x="17023113" y="0"/>
                </a:lnTo>
                <a:lnTo>
                  <a:pt x="17023113" y="1350148"/>
                </a:lnTo>
                <a:lnTo>
                  <a:pt x="0" y="13501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>
          <a:xfrm>
            <a:off x="-41400" y="41594612"/>
            <a:ext cx="14004000" cy="684000"/>
          </a:xfrm>
          <a:custGeom>
            <a:avLst/>
            <a:gdLst/>
            <a:ahLst/>
            <a:cxnLst/>
            <a:rect l="l" t="t" r="r" b="b"/>
            <a:pathLst>
              <a:path w="14004000" h="684000">
                <a:moveTo>
                  <a:pt x="0" y="0"/>
                </a:moveTo>
                <a:lnTo>
                  <a:pt x="14004000" y="0"/>
                </a:lnTo>
                <a:lnTo>
                  <a:pt x="14004000" y="684000"/>
                </a:lnTo>
                <a:lnTo>
                  <a:pt x="0" y="684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12" name="Freeform 12"/>
          <p:cNvSpPr/>
          <p:nvPr/>
        </p:nvSpPr>
        <p:spPr>
          <a:xfrm>
            <a:off x="1" y="3750689"/>
            <a:ext cx="17023113" cy="1152000"/>
          </a:xfrm>
          <a:custGeom>
            <a:avLst/>
            <a:gdLst/>
            <a:ahLst/>
            <a:cxnLst/>
            <a:rect l="l" t="t" r="r" b="b"/>
            <a:pathLst>
              <a:path w="17023113" h="1152000">
                <a:moveTo>
                  <a:pt x="0" y="0"/>
                </a:moveTo>
                <a:lnTo>
                  <a:pt x="17023113" y="0"/>
                </a:lnTo>
                <a:lnTo>
                  <a:pt x="17023113" y="1152000"/>
                </a:lnTo>
                <a:lnTo>
                  <a:pt x="0" y="1152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AutoShape 13"/>
          <p:cNvSpPr/>
          <p:nvPr/>
        </p:nvSpPr>
        <p:spPr>
          <a:xfrm rot="56517">
            <a:off x="17704837" y="2724737"/>
            <a:ext cx="11201664" cy="0"/>
          </a:xfrm>
          <a:prstGeom prst="line">
            <a:avLst/>
          </a:prstGeom>
          <a:ln w="142875" cap="rnd">
            <a:solidFill>
              <a:srgbClr val="8506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4" name="AutoShape 14"/>
          <p:cNvSpPr/>
          <p:nvPr/>
        </p:nvSpPr>
        <p:spPr>
          <a:xfrm rot="8589837">
            <a:off x="28252696" y="1666759"/>
            <a:ext cx="3945703" cy="0"/>
          </a:xfrm>
          <a:prstGeom prst="line">
            <a:avLst/>
          </a:prstGeom>
          <a:ln w="142875" cap="rnd">
            <a:solidFill>
              <a:srgbClr val="8506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5" name="Freeform 15"/>
          <p:cNvSpPr/>
          <p:nvPr/>
        </p:nvSpPr>
        <p:spPr>
          <a:xfrm>
            <a:off x="30131356" y="43765"/>
            <a:ext cx="2146529" cy="2228288"/>
          </a:xfrm>
          <a:custGeom>
            <a:avLst/>
            <a:gdLst/>
            <a:ahLst/>
            <a:cxnLst/>
            <a:rect l="l" t="t" r="r" b="b"/>
            <a:pathLst>
              <a:path w="2146529" h="2228288">
                <a:moveTo>
                  <a:pt x="0" y="0"/>
                </a:moveTo>
                <a:lnTo>
                  <a:pt x="2146529" y="0"/>
                </a:lnTo>
                <a:lnTo>
                  <a:pt x="2146529" y="2228289"/>
                </a:lnTo>
                <a:lnTo>
                  <a:pt x="0" y="222828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TextBox 16"/>
          <p:cNvSpPr txBox="1"/>
          <p:nvPr/>
        </p:nvSpPr>
        <p:spPr>
          <a:xfrm>
            <a:off x="2177651" y="5042580"/>
            <a:ext cx="27014518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 dirty="0" err="1">
                <a:solidFill>
                  <a:srgbClr val="1716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Sitatyr</a:t>
            </a:r>
            <a:r>
              <a:rPr lang="en-US" sz="6000" b="1" dirty="0">
                <a:solidFill>
                  <a:srgbClr val="1716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6000" b="1" dirty="0" err="1">
                <a:solidFill>
                  <a:srgbClr val="1716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Ceteme</a:t>
            </a:r>
            <a:endParaRPr lang="en-US" sz="6000" b="1" dirty="0">
              <a:solidFill>
                <a:srgbClr val="171616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5379" y="6082268"/>
            <a:ext cx="31119062" cy="4395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Jorge Alejandro Alonso Ortega</a:t>
            </a:r>
          </a:p>
          <a:p>
            <a:pPr algn="ctr">
              <a:lnSpc>
                <a:spcPts val="4800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Isaac Alonso Ortega </a:t>
            </a:r>
          </a:p>
          <a:p>
            <a:pPr algn="ctr">
              <a:lnSpc>
                <a:spcPts val="4800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Angel Josue Armenta Ramos </a:t>
            </a:r>
          </a:p>
          <a:p>
            <a:pPr algn="ctr">
              <a:lnSpc>
                <a:spcPts val="4800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Omar Rafael Reyes </a:t>
            </a:r>
            <a:r>
              <a:rPr lang="en-US" sz="40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Quio</a:t>
            </a:r>
            <a:endParaRPr lang="en-US" sz="40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4800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Uriel Atzin Acco Yañez</a:t>
            </a:r>
          </a:p>
          <a:p>
            <a:pPr algn="ctr">
              <a:lnSpc>
                <a:spcPts val="4800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Javier David Huerta Ahuehuetl</a:t>
            </a:r>
          </a:p>
          <a:p>
            <a:pPr algn="ctr">
              <a:lnSpc>
                <a:spcPts val="5759"/>
              </a:lnSpc>
            </a:pPr>
            <a:r>
              <a:rPr lang="en-US" sz="4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TecNM</a:t>
            </a:r>
            <a:r>
              <a:rPr lang="en-US" sz="4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/Instituto Tecnológico Superior de </a:t>
            </a:r>
            <a:r>
              <a:rPr lang="en-US" sz="4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Atlixco</a:t>
            </a:r>
            <a:r>
              <a:rPr lang="en-US" sz="4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División de Ingeniería </a:t>
            </a:r>
            <a:r>
              <a:rPr lang="en-US" sz="4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Mecatrónica</a:t>
            </a:r>
            <a:endParaRPr lang="en-US" sz="4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091163" y="12161982"/>
            <a:ext cx="11687319" cy="71994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proyecto desarrolló un prototipo de </a:t>
            </a:r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riego</a:t>
            </a:r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automatizado</a:t>
            </a:r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sostenible alimentado por energía solar </a:t>
            </a:r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fotovoltaica</a:t>
            </a:r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 el objetivo de optimizar el uso del agua. La arquitectura se basó en la captación solar, el almacenamiento en una batería de 12 V y la </a:t>
            </a:r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regulación</a:t>
            </a:r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 voltaje a 5 V para la electrónica. El sistema consiguió suministrar con precisión el agua necesaria a cuatro plantas mediante el control de una bomba gestionada por modulación por ancho de pulso y un puente H. Los principales retos se centraron en mantener la</a:t>
            </a:r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estabilidad </a:t>
            </a:r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la alimentación y reducir los costes de la estructura. Aun así, el prototipo demostró la viabilidad de emplear energías limpias para mejorar la eficiencia hídrica.</a:t>
            </a:r>
          </a:p>
          <a:p>
            <a:pPr algn="just">
              <a:lnSpc>
                <a:spcPts val="4320"/>
              </a:lnSpc>
            </a:pPr>
            <a:endParaRPr lang="en-US" sz="3600" i="1" dirty="0">
              <a:solidFill>
                <a:srgbClr val="000000"/>
              </a:solidFill>
              <a:latin typeface="Times New Roman Italics"/>
              <a:ea typeface="Times New Roman Italics"/>
              <a:cs typeface="Times New Roman Italics"/>
              <a:sym typeface="Times New Roman Italics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1529814" y="10578387"/>
            <a:ext cx="1859844" cy="1933605"/>
          </a:xfrm>
          <a:custGeom>
            <a:avLst/>
            <a:gdLst/>
            <a:ahLst/>
            <a:cxnLst/>
            <a:rect l="l" t="t" r="r" b="b"/>
            <a:pathLst>
              <a:path w="1859844" h="1933605">
                <a:moveTo>
                  <a:pt x="0" y="0"/>
                </a:moveTo>
                <a:lnTo>
                  <a:pt x="1859845" y="0"/>
                </a:lnTo>
                <a:lnTo>
                  <a:pt x="1859845" y="1933606"/>
                </a:lnTo>
                <a:lnTo>
                  <a:pt x="0" y="193360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20" name="Group 20"/>
          <p:cNvGrpSpPr/>
          <p:nvPr/>
        </p:nvGrpSpPr>
        <p:grpSpPr>
          <a:xfrm>
            <a:off x="2320800" y="18961709"/>
            <a:ext cx="11346669" cy="830997"/>
            <a:chOff x="0" y="0"/>
            <a:chExt cx="15128892" cy="110799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128875" cy="1107948"/>
            </a:xfrm>
            <a:custGeom>
              <a:avLst/>
              <a:gdLst/>
              <a:ahLst/>
              <a:cxnLst/>
              <a:rect l="l" t="t" r="r" b="b"/>
              <a:pathLst>
                <a:path w="15128875" h="1107948">
                  <a:moveTo>
                    <a:pt x="0" y="0"/>
                  </a:moveTo>
                  <a:lnTo>
                    <a:pt x="15128875" y="0"/>
                  </a:lnTo>
                  <a:lnTo>
                    <a:pt x="15128875" y="1107948"/>
                  </a:lnTo>
                  <a:lnTo>
                    <a:pt x="0" y="1107948"/>
                  </a:lnTo>
                  <a:close/>
                </a:path>
              </a:pathLst>
            </a:custGeom>
            <a:solidFill>
              <a:srgbClr val="850631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15128892" cy="1117521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F2F2F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Objetivo General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910121" y="20117977"/>
            <a:ext cx="11816063" cy="386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Diseñar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implementar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un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sistema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riego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automatizado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sustentable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alimentado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energía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solar. </a:t>
            </a:r>
            <a:r>
              <a:rPr lang="en-US" sz="36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Objetivos</a:t>
            </a: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6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específicos</a:t>
            </a: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Implementar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un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regulador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corriente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directa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para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convertir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mantener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estable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voltaje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alimentación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5V</a:t>
            </a:r>
          </a:p>
          <a:p>
            <a:pPr algn="just">
              <a:lnSpc>
                <a:spcPts val="4320"/>
              </a:lnSpc>
            </a:pP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Diseñar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construir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una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estructura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soporte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acero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pueda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sostener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panel solar</a:t>
            </a:r>
          </a:p>
          <a:p>
            <a:pPr algn="just">
              <a:lnSpc>
                <a:spcPts val="4320"/>
              </a:lnSpc>
            </a:pPr>
            <a:endParaRPr lang="en-US" sz="36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1045624" y="18493522"/>
            <a:ext cx="1859844" cy="1933605"/>
          </a:xfrm>
          <a:custGeom>
            <a:avLst/>
            <a:gdLst/>
            <a:ahLst/>
            <a:cxnLst/>
            <a:rect l="l" t="t" r="r" b="b"/>
            <a:pathLst>
              <a:path w="1859844" h="1933605">
                <a:moveTo>
                  <a:pt x="0" y="0"/>
                </a:moveTo>
                <a:lnTo>
                  <a:pt x="1859845" y="0"/>
                </a:lnTo>
                <a:lnTo>
                  <a:pt x="1859845" y="1933606"/>
                </a:lnTo>
                <a:lnTo>
                  <a:pt x="0" y="193360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25" name="Group 25"/>
          <p:cNvGrpSpPr/>
          <p:nvPr/>
        </p:nvGrpSpPr>
        <p:grpSpPr>
          <a:xfrm>
            <a:off x="2287065" y="32342335"/>
            <a:ext cx="11346669" cy="830997"/>
            <a:chOff x="0" y="0"/>
            <a:chExt cx="15128892" cy="110799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5128875" cy="1107948"/>
            </a:xfrm>
            <a:custGeom>
              <a:avLst/>
              <a:gdLst/>
              <a:ahLst/>
              <a:cxnLst/>
              <a:rect l="l" t="t" r="r" b="b"/>
              <a:pathLst>
                <a:path w="15128875" h="1107948">
                  <a:moveTo>
                    <a:pt x="0" y="0"/>
                  </a:moveTo>
                  <a:lnTo>
                    <a:pt x="15128875" y="0"/>
                  </a:lnTo>
                  <a:lnTo>
                    <a:pt x="15128875" y="1107948"/>
                  </a:lnTo>
                  <a:lnTo>
                    <a:pt x="0" y="1107948"/>
                  </a:lnTo>
                  <a:close/>
                </a:path>
              </a:pathLst>
            </a:custGeom>
            <a:solidFill>
              <a:srgbClr val="850631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15128892" cy="1117521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F2F2F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Metodología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2113598" y="33329335"/>
            <a:ext cx="11409111" cy="8822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proyecto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desarrolló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bajo un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método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Diseño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Iterativo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 de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prototipado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enfocado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cumplir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 las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especificaciones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sustentabilidad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autonomía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Usamos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cortadora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para metal para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ajustar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tamaño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tubulares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alambron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Se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construyó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una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estructura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tubular de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acero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robusto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para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sostener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panel solar, con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ayuda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soldadora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electrodo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con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electrodos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6013 se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lograron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las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uniones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dicha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estructura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Se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implementó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subsistema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energético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panel de 12 V y la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batería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12 V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como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única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fuente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alimentación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resolviendo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problemática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inestabilidad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mediante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un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regulador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corriente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directa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suministra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5V. El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sistema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contenido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una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caja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hecha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 material PLC. 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Finalmente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control del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agua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logro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una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bomba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5V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accionada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un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sistema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PWM y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puente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 para la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regulación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precisa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energía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riego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las 4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macetas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requeridas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</a:t>
            </a:r>
          </a:p>
          <a:p>
            <a:pPr algn="just">
              <a:lnSpc>
                <a:spcPts val="4320"/>
              </a:lnSpc>
            </a:pPr>
            <a:endParaRPr lang="en-US" sz="36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529814" y="31611903"/>
            <a:ext cx="1859844" cy="1933605"/>
          </a:xfrm>
          <a:custGeom>
            <a:avLst/>
            <a:gdLst/>
            <a:ahLst/>
            <a:cxnLst/>
            <a:rect l="l" t="t" r="r" b="b"/>
            <a:pathLst>
              <a:path w="1859844" h="1933605">
                <a:moveTo>
                  <a:pt x="0" y="0"/>
                </a:moveTo>
                <a:lnTo>
                  <a:pt x="1859845" y="0"/>
                </a:lnTo>
                <a:lnTo>
                  <a:pt x="1859845" y="1933606"/>
                </a:lnTo>
                <a:lnTo>
                  <a:pt x="0" y="193360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0" name="Group 30"/>
          <p:cNvGrpSpPr/>
          <p:nvPr/>
        </p:nvGrpSpPr>
        <p:grpSpPr>
          <a:xfrm>
            <a:off x="17850245" y="11317416"/>
            <a:ext cx="11346669" cy="830997"/>
            <a:chOff x="0" y="0"/>
            <a:chExt cx="15128892" cy="110799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5128875" cy="1107948"/>
            </a:xfrm>
            <a:custGeom>
              <a:avLst/>
              <a:gdLst/>
              <a:ahLst/>
              <a:cxnLst/>
              <a:rect l="l" t="t" r="r" b="b"/>
              <a:pathLst>
                <a:path w="15128875" h="1107948">
                  <a:moveTo>
                    <a:pt x="0" y="0"/>
                  </a:moveTo>
                  <a:lnTo>
                    <a:pt x="15128875" y="0"/>
                  </a:lnTo>
                  <a:lnTo>
                    <a:pt x="15128875" y="1107948"/>
                  </a:lnTo>
                  <a:lnTo>
                    <a:pt x="0" y="1107948"/>
                  </a:lnTo>
                  <a:close/>
                </a:path>
              </a:pathLst>
            </a:custGeom>
            <a:solidFill>
              <a:srgbClr val="850631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15128892" cy="1117521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F2F2F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Resultados y Discusiones 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8350399" y="12625700"/>
            <a:ext cx="10952781" cy="120988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implementación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exitosa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del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regulador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corriente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directa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transformó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salida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12 V a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una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tensión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estable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5V para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control y la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bomba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fue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un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logro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técnico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clave. Sin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regulación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la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electrónica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sensible no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habría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operado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manera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fiable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El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uso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la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combinación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del PWM y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puente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demostró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ser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una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alternativa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para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control de la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bomba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5 V. Esta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técnica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permitió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 solo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encender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apagar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bomba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(ON/OFF),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sino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también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gestionar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flujo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 la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potencia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entrada de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manera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precisa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optimizando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uso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la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energía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almacenada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La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elección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del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acero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bien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compleja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manipulación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costo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inicial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resultó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necesaria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para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garantizar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estabilidad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 la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durabilidad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largo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plazo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todo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esto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sin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uso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materiales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débiles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asegurando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integridad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del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sistema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Se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cambio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estructura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puesto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 era optima para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matener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panel, se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opto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una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estructura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movil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para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una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major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ergonomia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haciendo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componentes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del Sistema de Riego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tuvieran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un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lugar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adecuado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Sin embargo,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nuestro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diseño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puede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tener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mejoras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tales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como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capacidad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del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tanque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mejorar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sistema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control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implementando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mas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componentes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necesarios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como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sensor de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humedad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ademas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la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capacidad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contener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mas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plantas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34" name="Freeform 34"/>
          <p:cNvSpPr/>
          <p:nvPr/>
        </p:nvSpPr>
        <p:spPr>
          <a:xfrm>
            <a:off x="16948234" y="10686574"/>
            <a:ext cx="1859844" cy="1933605"/>
          </a:xfrm>
          <a:custGeom>
            <a:avLst/>
            <a:gdLst/>
            <a:ahLst/>
            <a:cxnLst/>
            <a:rect l="l" t="t" r="r" b="b"/>
            <a:pathLst>
              <a:path w="1859844" h="1933605">
                <a:moveTo>
                  <a:pt x="0" y="0"/>
                </a:moveTo>
                <a:lnTo>
                  <a:pt x="1859845" y="0"/>
                </a:lnTo>
                <a:lnTo>
                  <a:pt x="1859845" y="1933606"/>
                </a:lnTo>
                <a:lnTo>
                  <a:pt x="0" y="193360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5" name="Group 35"/>
          <p:cNvGrpSpPr/>
          <p:nvPr/>
        </p:nvGrpSpPr>
        <p:grpSpPr>
          <a:xfrm>
            <a:off x="17956525" y="24840505"/>
            <a:ext cx="11346669" cy="830997"/>
            <a:chOff x="0" y="0"/>
            <a:chExt cx="15128892" cy="110799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5128875" cy="1107948"/>
            </a:xfrm>
            <a:custGeom>
              <a:avLst/>
              <a:gdLst/>
              <a:ahLst/>
              <a:cxnLst/>
              <a:rect l="l" t="t" r="r" b="b"/>
              <a:pathLst>
                <a:path w="15128875" h="1107948">
                  <a:moveTo>
                    <a:pt x="0" y="0"/>
                  </a:moveTo>
                  <a:lnTo>
                    <a:pt x="15128875" y="0"/>
                  </a:lnTo>
                  <a:lnTo>
                    <a:pt x="15128875" y="1107948"/>
                  </a:lnTo>
                  <a:lnTo>
                    <a:pt x="0" y="1107948"/>
                  </a:lnTo>
                  <a:close/>
                </a:path>
              </a:pathLst>
            </a:custGeom>
            <a:solidFill>
              <a:srgbClr val="850631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15128892" cy="1117521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F2F2F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Conclusiones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8144340" y="26063645"/>
            <a:ext cx="11346656" cy="6309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137"/>
              </a:lnSpc>
            </a:pP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sistema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riego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automatizado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funcionó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correctamente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 la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estructura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metálica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panel solar y la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batería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generando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un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promedio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25 W y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manteniendo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una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autonomía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4.5 horas. El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tanque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PVC de 6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pulgadas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diametro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40 cm del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altura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almacenó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18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litros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suficientes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para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abastecer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las cuatro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macetas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 un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consumo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0.3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litros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riego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 un caudal de 0.150 L/min.</a:t>
            </a:r>
          </a:p>
          <a:p>
            <a:pPr algn="just">
              <a:lnSpc>
                <a:spcPts val="4137"/>
              </a:lnSpc>
            </a:pP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sensor de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movimiento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tuvo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una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eficiencia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del 96 %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las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activaciones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En general,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resultados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muestran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sistema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es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eficiente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autónomo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energéticamente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adecuado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para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riego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pequeña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4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escala</a:t>
            </a:r>
            <a:r>
              <a:rPr lang="en-US" sz="3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just">
              <a:lnSpc>
                <a:spcPts val="4137"/>
              </a:lnSpc>
            </a:pPr>
            <a:endParaRPr lang="en-US" sz="3447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" name="Freeform 39"/>
          <p:cNvSpPr/>
          <p:nvPr/>
        </p:nvSpPr>
        <p:spPr>
          <a:xfrm>
            <a:off x="16933720" y="24198469"/>
            <a:ext cx="1859844" cy="1933605"/>
          </a:xfrm>
          <a:custGeom>
            <a:avLst/>
            <a:gdLst/>
            <a:ahLst/>
            <a:cxnLst/>
            <a:rect l="l" t="t" r="r" b="b"/>
            <a:pathLst>
              <a:path w="1859844" h="1933605">
                <a:moveTo>
                  <a:pt x="0" y="0"/>
                </a:moveTo>
                <a:lnTo>
                  <a:pt x="1859845" y="0"/>
                </a:lnTo>
                <a:lnTo>
                  <a:pt x="1859845" y="1933606"/>
                </a:lnTo>
                <a:lnTo>
                  <a:pt x="0" y="193360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40" name="Group 40"/>
          <p:cNvGrpSpPr/>
          <p:nvPr/>
        </p:nvGrpSpPr>
        <p:grpSpPr>
          <a:xfrm>
            <a:off x="17956524" y="33175547"/>
            <a:ext cx="11346669" cy="830997"/>
            <a:chOff x="0" y="0"/>
            <a:chExt cx="15128892" cy="110799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5128875" cy="1107948"/>
            </a:xfrm>
            <a:custGeom>
              <a:avLst/>
              <a:gdLst/>
              <a:ahLst/>
              <a:cxnLst/>
              <a:rect l="l" t="t" r="r" b="b"/>
              <a:pathLst>
                <a:path w="15128875" h="1107948">
                  <a:moveTo>
                    <a:pt x="0" y="0"/>
                  </a:moveTo>
                  <a:lnTo>
                    <a:pt x="15128875" y="0"/>
                  </a:lnTo>
                  <a:lnTo>
                    <a:pt x="15128875" y="1107948"/>
                  </a:lnTo>
                  <a:lnTo>
                    <a:pt x="0" y="1107948"/>
                  </a:lnTo>
                  <a:close/>
                </a:path>
              </a:pathLst>
            </a:custGeom>
            <a:solidFill>
              <a:srgbClr val="850631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15128892" cy="1117521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F2F2F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Referencias </a:t>
              </a:r>
            </a:p>
          </p:txBody>
        </p:sp>
      </p:grpSp>
      <p:sp>
        <p:nvSpPr>
          <p:cNvPr id="43" name="Freeform 43"/>
          <p:cNvSpPr/>
          <p:nvPr/>
        </p:nvSpPr>
        <p:spPr>
          <a:xfrm>
            <a:off x="16867747" y="32752734"/>
            <a:ext cx="1859844" cy="1933605"/>
          </a:xfrm>
          <a:custGeom>
            <a:avLst/>
            <a:gdLst/>
            <a:ahLst/>
            <a:cxnLst/>
            <a:rect l="l" t="t" r="r" b="b"/>
            <a:pathLst>
              <a:path w="1859844" h="1933605">
                <a:moveTo>
                  <a:pt x="0" y="0"/>
                </a:moveTo>
                <a:lnTo>
                  <a:pt x="1859845" y="0"/>
                </a:lnTo>
                <a:lnTo>
                  <a:pt x="1859845" y="1933606"/>
                </a:lnTo>
                <a:lnTo>
                  <a:pt x="0" y="193360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4" name="TextBox 44"/>
          <p:cNvSpPr txBox="1"/>
          <p:nvPr/>
        </p:nvSpPr>
        <p:spPr>
          <a:xfrm>
            <a:off x="17705593" y="34319187"/>
            <a:ext cx="12425763" cy="6278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 A. Espinoza y K. Martínez, </a:t>
            </a:r>
            <a:r>
              <a:rPr lang="es-MX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Diseño de sistema de riego automatizado mediante el uso de sistema solar fotovoltaico en la comunidad de San Pedro de </a:t>
            </a:r>
            <a:r>
              <a:rPr lang="es-MX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Silimane</a:t>
            </a:r>
            <a:r>
              <a:rPr lang="es-MX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Intibucá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Universidad Tecnológica Centroamericana, 2021. Disponible en:</a:t>
            </a:r>
            <a:b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https://repositorio.unitec.edu/xmlui/handle/123456789/12336</a:t>
            </a: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F. García-Moreno, J. Bedoya-Fierro y G. López-Martínez, “Modelo a escala de un sistema de riego automatizado, alimentado con energía solar fotovoltaica,” </a:t>
            </a:r>
            <a:r>
              <a:rPr lang="es-MX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Tecnura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17, pp. 33–47, 2013. Disponible en:</a:t>
            </a:r>
            <a:b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https://www.redalyc.org/pdf/2570/257059811004.pdf</a:t>
            </a: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J. Quispe, </a:t>
            </a:r>
            <a:r>
              <a:rPr lang="es-MX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Diseño de un sistema automatizado con energía solar para la mejora del riego agrícola en el valle de Sayán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Univ. Nacional José Faustino Sánchez Carrión, 2023. Disponible en:</a:t>
            </a:r>
            <a:b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https://repositorio.unjfsc.edu.pe/handle/20.500.14067/8157</a:t>
            </a: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 Rivera y M. Torres, “Sistema de tiempo real para el riego en la finca ‘Carmen Torres’: sistema automatizado de riego,” </a:t>
            </a:r>
            <a:r>
              <a:rPr lang="es-MX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Ciencia </a:t>
            </a:r>
            <a:r>
              <a:rPr lang="es-MX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Unemi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17, 2024. Disponible en:</a:t>
            </a:r>
            <a:b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https://ojs.unemi.edu.ec/index.php/cienciaunemi/article/view/1669</a:t>
            </a: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L. R. Vargas, “Sistemas de riego a partir de la energía solar fotovoltaica,” </a:t>
            </a:r>
            <a:r>
              <a:rPr lang="es-MX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Incaing</a:t>
            </a:r>
            <a:r>
              <a:rPr lang="es-MX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Revista de Ingeniería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5, 2023. Disponible en:</a:t>
            </a:r>
            <a:b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https://ojsincaing.com.mx/index.php/ediciones/article/view/228</a:t>
            </a: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50025" y="4205806"/>
            <a:ext cx="15972022" cy="583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TecNM/Instituto Tecnológico Superior de Atlixco. División de Ingeniería Mecatrónica</a:t>
            </a:r>
          </a:p>
        </p:txBody>
      </p:sp>
      <p:grpSp>
        <p:nvGrpSpPr>
          <p:cNvPr id="46" name="Group 46"/>
          <p:cNvGrpSpPr>
            <a:grpSpLocks noChangeAspect="1"/>
          </p:cNvGrpSpPr>
          <p:nvPr/>
        </p:nvGrpSpPr>
        <p:grpSpPr>
          <a:xfrm>
            <a:off x="12830824" y="186276"/>
            <a:ext cx="3711996" cy="3391771"/>
            <a:chOff x="0" y="0"/>
            <a:chExt cx="4949328" cy="4522361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949317" cy="4522343"/>
            </a:xfrm>
            <a:custGeom>
              <a:avLst/>
              <a:gdLst/>
              <a:ahLst/>
              <a:cxnLst/>
              <a:rect l="l" t="t" r="r" b="b"/>
              <a:pathLst>
                <a:path w="4949317" h="4522343">
                  <a:moveTo>
                    <a:pt x="0" y="0"/>
                  </a:moveTo>
                  <a:lnTo>
                    <a:pt x="4949317" y="0"/>
                  </a:lnTo>
                  <a:lnTo>
                    <a:pt x="4949317" y="4522343"/>
                  </a:lnTo>
                  <a:lnTo>
                    <a:pt x="0" y="4522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48" name="Group 48"/>
          <p:cNvGrpSpPr>
            <a:grpSpLocks noChangeAspect="1"/>
          </p:cNvGrpSpPr>
          <p:nvPr/>
        </p:nvGrpSpPr>
        <p:grpSpPr>
          <a:xfrm>
            <a:off x="21165806" y="401769"/>
            <a:ext cx="6475688" cy="2214922"/>
            <a:chOff x="0" y="0"/>
            <a:chExt cx="8634251" cy="2953229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634222" cy="2953258"/>
            </a:xfrm>
            <a:custGeom>
              <a:avLst/>
              <a:gdLst/>
              <a:ahLst/>
              <a:cxnLst/>
              <a:rect l="l" t="t" r="r" b="b"/>
              <a:pathLst>
                <a:path w="8634222" h="2953258">
                  <a:moveTo>
                    <a:pt x="0" y="0"/>
                  </a:moveTo>
                  <a:lnTo>
                    <a:pt x="8634222" y="0"/>
                  </a:lnTo>
                  <a:lnTo>
                    <a:pt x="8634222" y="2953258"/>
                  </a:lnTo>
                  <a:lnTo>
                    <a:pt x="0" y="29532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50" name="Group 50"/>
          <p:cNvGrpSpPr>
            <a:grpSpLocks noChangeAspect="1"/>
          </p:cNvGrpSpPr>
          <p:nvPr/>
        </p:nvGrpSpPr>
        <p:grpSpPr>
          <a:xfrm>
            <a:off x="5007293" y="23539226"/>
            <a:ext cx="5908564" cy="8358692"/>
            <a:chOff x="15049" y="242911"/>
            <a:chExt cx="7010400" cy="9917430"/>
          </a:xfrm>
        </p:grpSpPr>
        <p:sp>
          <p:nvSpPr>
            <p:cNvPr id="51" name="Freeform 51"/>
            <p:cNvSpPr/>
            <p:nvPr/>
          </p:nvSpPr>
          <p:spPr>
            <a:xfrm>
              <a:off x="15049" y="242911"/>
              <a:ext cx="7010400" cy="9917430"/>
            </a:xfrm>
            <a:custGeom>
              <a:avLst/>
              <a:gdLst/>
              <a:ahLst/>
              <a:cxnLst/>
              <a:rect l="l" t="t" r="r" b="b"/>
              <a:pathLst>
                <a:path w="7010400" h="9917430">
                  <a:moveTo>
                    <a:pt x="0" y="0"/>
                  </a:moveTo>
                  <a:lnTo>
                    <a:pt x="7010400" y="0"/>
                  </a:lnTo>
                  <a:lnTo>
                    <a:pt x="7010400" y="9917430"/>
                  </a:lnTo>
                  <a:lnTo>
                    <a:pt x="0" y="9917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1028</Words>
  <Application>Microsoft Office PowerPoint</Application>
  <PresentationFormat>Personalizado</PresentationFormat>
  <Paragraphs>30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Calibri</vt:lpstr>
      <vt:lpstr>Arial</vt:lpstr>
      <vt:lpstr>Cambria Bold</vt:lpstr>
      <vt:lpstr>Times New Roman Bold</vt:lpstr>
      <vt:lpstr>Times New Roman Italics</vt:lpstr>
      <vt:lpstr>Times New Roman</vt:lpstr>
      <vt:lpstr>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Cartel proyecto integrador.pptx</dc:title>
  <dc:creator>Lenovo</dc:creator>
  <cp:lastModifiedBy>ANGEL ARMENTA RAMOS</cp:lastModifiedBy>
  <cp:revision>3</cp:revision>
  <dcterms:created xsi:type="dcterms:W3CDTF">2006-08-16T00:00:00Z</dcterms:created>
  <dcterms:modified xsi:type="dcterms:W3CDTF">2025-12-01T16:47:23Z</dcterms:modified>
  <dc:identifier>DAG6Og5cDu0</dc:identifier>
</cp:coreProperties>
</file>